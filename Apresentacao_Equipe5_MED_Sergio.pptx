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RAG (Memória Pura)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Llama-3</c:v>
                  </c:pt>
                  <c:pt idx="1">
                    <c:v>Mistral</c:v>
                  </c:pt>
                  <c:pt idx="2">
                    <c:v>Phi-3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3.27</c:v>
                </c:pt>
                <c:pt idx="1">
                  <c:v>1.54</c:v>
                </c:pt>
                <c:pt idx="2">
                  <c:v>2.78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RAG (PDF ADA/AHA)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Llama-3</c:v>
                  </c:pt>
                  <c:pt idx="1">
                    <c:v>Mistral</c:v>
                  </c:pt>
                  <c:pt idx="2">
                    <c:v>Phi-3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1.86</c:v>
                </c:pt>
                <c:pt idx="1">
                  <c:v>3.46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5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F254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RAG (Memória Pura)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Llama-3</c:v>
                  </c:pt>
                  <c:pt idx="1">
                    <c:v>Mistral</c:v>
                  </c:pt>
                  <c:pt idx="2">
                    <c:v>Phi-3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1.41</c:v>
                </c:pt>
                <c:pt idx="1">
                  <c:v>1.52</c:v>
                </c:pt>
                <c:pt idx="2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RAG (PDF ADA/AHA)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Llama-3</c:v>
                  </c:pt>
                  <c:pt idx="1">
                    <c:v>Mistral</c:v>
                  </c:pt>
                  <c:pt idx="2">
                    <c:v>Phi-3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2.76</c:v>
                </c:pt>
                <c:pt idx="1">
                  <c:v>2.79</c:v>
                </c:pt>
                <c:pt idx="2">
                  <c:v>2.89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5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F254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 a todos — represento a Equipe 5 MED.
Hospitais precisam de privacidade absoluta → rodar modelos localmente.
Porém modelos menores (3B-8B) alucinam condutas médicas desatualizadas.
Nossa missão: CURAR essas alucinações sem conectar dados do paciente à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 — a fundação.
Dois datasets: K-QA (casos clínicos abertos) e USMLE (múltipla escolha).
Três modelos rodando 100% offline via CUDA.
Métricas: RegEx para MCQ, F1-Token e BERTScore para abertas.
Resultado: modelos sem suporte alucinavam, especialmente em cardiologia e endocrinologia.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 foi um pipeline MLOps completo.
RAG: fatiamos PDFs da ADA e AHA, vetorizamos com MiniLM, injetamos contexto em tempo real.
PostgreSQL com checkpointing para resiliência.
Juiz Groq com fallback automático para Gemini — 100% de cobertura.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provar que o RAG funcionou, precisávamos de avaliação clínica real.
Métricas lexicais BLEU/ROUGE falham: não distinguem 'Hipertensão' de 'Pressão Alta'.
Solução: Llama-3.3-70B (70B parâmetros) como Juiz Auditor — Chain-of-Thought.
Ele classifica erros em: omissão de dosagem, diagnóstico incorreto, conduta perigosa.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Questões abertas — o resultado foi mais nuançado.
Mistral: impressionante +1.92 pontos (+124%) — o RAG funcionou perfeitamente.
Phi-3: estável, RAG não prejudicou.
Llama-3: efeito INVERSO. Por quê? Questões sobre clorhexidina, ciática, meningite — não estão nas diretrizes ADA/AHA. O Llama sobre-leu o contexto irrelevante.
Lição científica: RAG não é bala de prata — a qualidade do contexto injetado é crucial.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MCQ — resultado consistente e positivo para TODOS os modelos.
Llama-3: +96% | Mistral: +84% | Phi-3: +16%.
Média geral: 1.85 → 2.82 (+52%).
Correlação de Spearman baixa/moderada entre notas sem e com RAG — prova que o RAG reestruturou o raciocínio, não apenas inflou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usou 7 modelos distintos com papéis específicos.
3 geradores locais (offline para privacidade), 1 avaliador semântico (RoBERTa), 1 juiz auditor (70B via API), 1 embedding para RAG, 1 fallback automático.
2 paradigmas de banco: relacional (PostgreSQL) e vetorial (ChromaDB).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final:
1. RAG funciona — MCQ melhorou +52% consistentemente em todos os modelos.
2. Qualidade do contexto é crítica — contexto irrelevante prejudica (Llama-3 abertas).
3. Privacidade preservada 100% — zero dados do paciente saíram do servidor local.
4. Correlação de Spearman provou mudança estrutural no raciocínio, não inflação.
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5029200" cy="32004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274320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EQUIPE 5 MED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 Paradoxo da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2D3EE"/>
                </a:solidFill>
              </a:rPr>
              <a:t>IA Médica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E8F4F8"/>
                </a:solidFill>
              </a:rPr>
              <a:t>Privacidade vs. Alucinação — e como superamos os dois.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44368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17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4F8"/>
                </a:solidFill>
              </a:rPr>
              <a:t>Privacidade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F4F8"/>
                </a:solidFill>
              </a:rPr>
              <a:t>(100% Offline)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944368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017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34930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4F8"/>
                </a:solidFill>
              </a:rPr>
              <a:t>7 Modelos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F4F8"/>
                </a:solidFill>
              </a:rPr>
              <a:t>de 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944368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3017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63640" y="34930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4F8"/>
                </a:solidFill>
              </a:rPr>
              <a:t>Prova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F4F8"/>
                </a:solidFill>
              </a:rPr>
              <a:t>Estatística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Sergio Santana dos Santos  |  Tópicos Avançados em Eng. de Software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ATIVIDADE 1  —  A Fundação e a "Memória Pura"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544"/>
                </a:solidFill>
              </a:rPr>
              <a:t>📋  Os Dados (Padrão-Ouro)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916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</a:rPr>
              <a:t>M1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98448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</a:rPr>
              <a:t>K-QA (Abertas)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20391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Casos clínicos reais — resposta em texto livre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632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</a:rPr>
              <a:t>M2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98448" y="3063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</a:rPr>
              <a:t>USMLE (MCQ)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34107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Questões de múltipla escolha do licenciamento médico americano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005840"/>
            <a:ext cx="43891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544"/>
                </a:solidFill>
              </a:rPr>
              <a:t>⚙️  Os Motores Locais (CUDA + RTX 3060)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8F4F8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169164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6550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</a:rPr>
              <a:t>Llama-3 (8B)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8F4F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592" y="23317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2951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</a:rPr>
              <a:t>Mistral (7B)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Mistral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8F4F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29718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9352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</a:rPr>
              <a:t>Phi-3 (3.8B)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Microsoft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6393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544"/>
                </a:solidFill>
              </a:rPr>
              <a:t>🔬  Avaliação Matemática e Semântica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40050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Acurácia Estrita (Regex) → MCQ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42336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F1-Token → sobreposição lexical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462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BERTScore (RoBERTa-Large) → semântica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46908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Ensemble / Voto Majoritário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ATIVIDADES 2 &amp; 3  —  Pipeline MLOps e RAG Clínico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1965960" cy="2148840"/>
          </a:xfrm>
          <a:prstGeom prst="roundRect">
            <a:avLst>
              <a:gd name="adj" fmla="val 6512"/>
            </a:avLst>
          </a:prstGeom>
          <a:solidFill>
            <a:srgbClr val="1E3A5F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241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6032" y="1572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PDFs Médicos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95681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ADA 2024 (Diabetes)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AHA 2023 (Cardio)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21992" y="196596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8928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1965960" cy="2148840"/>
          </a:xfrm>
          <a:prstGeom prst="roundRect">
            <a:avLst>
              <a:gd name="adj" fmla="val 6512"/>
            </a:avLst>
          </a:prstGeom>
          <a:solidFill>
            <a:srgbClr val="1E3A5F"/>
          </a:solidFill>
          <a:ln w="228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0241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1572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ChromaDB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0592" y="195681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Vetorização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all-MiniLM-L6-v2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16552" y="196596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18928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45152" y="960120"/>
            <a:ext cx="1965960" cy="2148840"/>
          </a:xfrm>
          <a:prstGeom prst="roundRect">
            <a:avLst>
              <a:gd name="adj" fmla="val 6512"/>
            </a:avLst>
          </a:prstGeom>
          <a:solidFill>
            <a:srgbClr val="1E3A5F"/>
          </a:solidFill>
          <a:ln w="228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10241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45152" y="1572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LLM Local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45152" y="195681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Llama / Mistral / Phi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(CUDA offline)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11112" y="196596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8928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39712" y="960120"/>
            <a:ext cx="1965960" cy="2148840"/>
          </a:xfrm>
          <a:prstGeom prst="roundRect">
            <a:avLst>
              <a:gd name="adj" fmla="val 6512"/>
            </a:avLst>
          </a:prstGeom>
          <a:solidFill>
            <a:srgbClr val="1E3A5F"/>
          </a:solidFill>
          <a:ln w="228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39712" y="10241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⚖️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39712" y="1572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Juiz 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9712" y="195681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Llama-3.3-70B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(Groq + Fallback Gemini)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310128"/>
            <a:ext cx="4160520" cy="1536192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0624" y="3401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🗄️  PostgreSQL (Multi-Tenant)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" y="3767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Esquema bd_equipe5 com chaves estrangeiras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" y="4069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Checkpointing: script retoma onde parou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" y="4370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Rate limit automático com sleep(60s)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310128"/>
            <a:ext cx="4160520" cy="1536192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01184" y="3401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🔁  Fallback Automático de API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01184" y="3767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1ª tentativa: Llama-3.3-70B via Groq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01184" y="4069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Erro 429 → chave automática: Gemini 1.5 Flash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01184" y="4370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100% de cobertura de avaliação garantida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METODOLOGIA  —  O Paradigma "LLM-as-a-Judge"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108960" cy="39319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❌  Métricas Lexicais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(BLEU / ROUGE)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78308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F0F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105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</a:rPr>
              <a:t>Contam palavras — não entendem significado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" y="246888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F0F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963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</a:rPr>
              <a:t>"Pressão Alta" ≠ "Hipertensão" para o algoritmo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315468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F0F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821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</a:rPr>
              <a:t>Em medicina, uma vírgula muda um diagnóstico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384048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F0F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679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</a:rPr>
              <a:t>Não detectam alucinações perigosas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069080" y="96012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51960" y="1051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544"/>
                </a:solidFill>
              </a:rPr>
              <a:t>✅  Llama-3.3-70B como Juiz Auditor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51960" y="1664208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8F4F8"/>
          </a:solidFill>
          <a:ln w="15240">
            <a:solidFill>
              <a:srgbClr val="0F2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</a:rPr>
              <a:t>INPUT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171907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Pergunta + Resposta do modelo local + Gabarito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487168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8F4F8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2542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ANÁLISE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54203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Raciocínio clínico em Chain-of-Thought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3310128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8F4F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33649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36499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Nota de 1–5 + Classificação de Erro + Justificativa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51960" y="4206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</a:rPr>
              <a:t>Classificação de Erros (via Juiz):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45262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▸ Omissão de Dosagem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45262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▸ Diagnóstico Incorreto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51960" y="476402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▸ Conduta Perigosa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37960" y="476402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▸ Acerto de Abordagem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RESULTADOS  —  Casos Clínicos Abertos (K-QA)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96012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87568" y="10149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</a:rPr>
              <a:t>📈 Mistral — Melhor Resposta ao RAG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87568" y="13075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+1.92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086600" y="127101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1.54 → 3.46 pontos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(+124% de melhora)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32120" y="192024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197510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</a:rPr>
              <a:t>📊 Phi-3 — Estável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87568" y="22677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+0.02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086600" y="223113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2.78 → 2.80 pontos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(RAG não prejudicou)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32120" y="288036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87568" y="29352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</a:rPr>
              <a:t>🔍 Llama-3 — Efeito Inverso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-1.41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086600" y="319125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Contexto irrelevante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prejudicou questões fora ADA/AHA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32120" y="38404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87568" y="38953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</a:rPr>
              <a:t>💡 Lição Científica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87568" y="41879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</a:rPr>
              <a:t>RAG ≠ Prata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086600" y="415137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Qualidade do contexto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&gt; tamanho do modelo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RESULTADOS  —  Questões USMLE (Múltipla Escolha)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9768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315968"/>
            <a:ext cx="4846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Média Geral MCQ:  1.85/5  →  2.82/5  (+52% de melhora)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32120" y="96012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87568" y="10332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</a:rPr>
              <a:t>Llama-3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05472" y="101498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+96%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87568" y="14630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1.41  →  2.76 / 5.0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32120" y="196596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87568" y="20391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</a:rPr>
              <a:t>Mistral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05472" y="202082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+84%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87568" y="24688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1.52  →  2.79 / 5.0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32120" y="297180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87568" y="30449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</a:rPr>
              <a:t>Phi-3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205472" y="302666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+16%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687568" y="34747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2.50  →  2.89 / 5.0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32120" y="4069080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1E3A5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87568" y="41330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📐  Correlação de Spearman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87568" y="44439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Correlação fraca/moderada confirmou que o RAG não apenas inflou notas — reestruturou o raciocínio clínico.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ARQUITETURA  —  7 Modelos, 2 Paradigmas de Banco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60704"/>
            <a:ext cx="438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77824" y="104241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Llama-3 (8B)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0789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07899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GERADOR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77824" y="14081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Meta · Local · CUDA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938528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011680"/>
            <a:ext cx="438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7824" y="19933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Mistral (7B)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2029968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0299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GERADOR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77824" y="23591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Mistral AI · Local · CUDA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889504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62656"/>
            <a:ext cx="438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7824" y="2944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Phi-3 (3.8B)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2980944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9809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GERADOR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77824" y="33101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Microsoft · Local · CUDA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84048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913632"/>
            <a:ext cx="438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</a:rPr>
              <a:t>④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77824" y="38953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RoBERTa-Large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08960" y="3931920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931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AVALIADOR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77824" y="42611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Facebook · BERTScore semântico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82312" y="987552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1060704"/>
            <a:ext cx="438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04104" y="104241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Llama-3.3-70B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35240" y="10789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07899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JUIZ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04104" y="14081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Groq API · LLM-as-a-Judge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82312" y="1938528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2011680"/>
            <a:ext cx="438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⑥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04104" y="19933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MiniLM-L6-v2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635240" y="2029968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20299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EMBEDDING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04104" y="23591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ChromaDB · Vetorização RAG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82312" y="2889504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2962656"/>
            <a:ext cx="438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</a:rPr>
              <a:t>⑦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404104" y="2944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 1.5 Flash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635240" y="2980944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29809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FALLBACK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04104" y="33101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Google · Fallback automático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6032" y="466344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4681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🗄️  PostgreSQL:  Relacional / SQL · Multi-Tenant + Chaves Estrangeiras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82312" y="466344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4681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🔮  ChromaDB:  Vetorial / NoSQL · Embeddings + Busca Semântica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2D3EE"/>
                </a:solidFill>
              </a:rPr>
              <a:t>Conclusão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Contexto atualizado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supera tamanho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 parâmetro.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✅  RAG provou eficácia mensurável em MCQ: +52% de melhora geral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85292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🔬  Spearman confirmou reestruturação real do raciocínio clínico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40156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⚠️  RAG com contexto irrelevante pode ser prejudicial (Llama-3 abertas)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95020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🛡️  Privacidade preservada: zero dados de pacientes na nuvem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480560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49884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🏗️  Infraestrutura robusta: PostgreSQL + ChromaDB + Fallback automático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02920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 Case de portfólio: 7 modelos · 2 bancos de dados · MLOps end-to-end · Prova estatística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Clínica: Do Paradoxo à Prova Científica</dc:title>
  <dc:subject>PptxGenJS Presentation</dc:subject>
  <dc:creator>Sergio Santana dos Santos</dc:creator>
  <cp:lastModifiedBy>Sergio Santana dos Santos</cp:lastModifiedBy>
  <cp:revision>1</cp:revision>
  <dcterms:created xsi:type="dcterms:W3CDTF">2026-06-09T23:08:26Z</dcterms:created>
  <dcterms:modified xsi:type="dcterms:W3CDTF">2026-06-09T23:08:26Z</dcterms:modified>
</cp:coreProperties>
</file>